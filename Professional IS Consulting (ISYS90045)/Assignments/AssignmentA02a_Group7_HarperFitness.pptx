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7"/>
  </p:notesMasterIdLst>
  <p:handoutMasterIdLst>
    <p:handoutMasterId r:id="rId18"/>
  </p:handoutMasterIdLst>
  <p:sldIdLst>
    <p:sldId id="290" r:id="rId5"/>
    <p:sldId id="296" r:id="rId6"/>
    <p:sldId id="293" r:id="rId7"/>
    <p:sldId id="292" r:id="rId8"/>
    <p:sldId id="294" r:id="rId9"/>
    <p:sldId id="295" r:id="rId10"/>
    <p:sldId id="297" r:id="rId11"/>
    <p:sldId id="298" r:id="rId12"/>
    <p:sldId id="299" r:id="rId13"/>
    <p:sldId id="300" r:id="rId14"/>
    <p:sldId id="301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-min" id="{9685A801-E13D-4CAE-B00B-C4894271C65F}">
          <p14:sldIdLst/>
        </p14:section>
        <p14:section name="3-min" id="{16D94987-2A33-465C-9CDC-6B091D41780E}">
          <p14:sldIdLst>
            <p14:sldId id="290"/>
            <p14:sldId id="296"/>
            <p14:sldId id="293"/>
            <p14:sldId id="292"/>
            <p14:sldId id="294"/>
            <p14:sldId id="295"/>
            <p14:sldId id="297"/>
            <p14:sldId id="298"/>
            <p14:sldId id="299"/>
            <p14:sldId id="300"/>
            <p14:sldId id="301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BD49D-738E-ACF9-49BE-EDDA6CE16805}" v="54" dt="2026-05-11T10:26:09.979"/>
    <p1510:client id="{F904DACF-14C4-4AE6-93C0-A241491F29DD}" v="15" dt="2026-05-11T10:41:57.845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114" d="100"/>
          <a:sy n="114" d="100"/>
        </p:scale>
        <p:origin x="6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Relationship Id="rId24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59896-E540-7EA3-C1CE-E6D099BB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A7398-B430-A059-8426-D1607EA73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5F1CB-D219-6E26-CA96-EFB92303D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41D14-1C73-65C2-2368-2F5A2F551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51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7A81-6DA4-4AF2-959C-A2A00EAA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AB964-E67E-76E4-0553-055494630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F95DF-3F7A-E451-E809-0664B311F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Some fields have already been impacted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The most urgent application is cybersecurity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Currently, our banking, communications, and government data rely on encryption methods that would take TC thousands of years to break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"harvest now, decrypt later" Attackers are already stealing encrypted data today with the intention of decrypting it once quantum computers are powerful enough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Australia, the Signals Directorate now requires that systems operating beyond 2030 use quantum-safe encryption algorithms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The chart shows the ASD’s timelines for </a:t>
            </a:r>
            <a:r>
              <a:rPr lang="en-A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cryptographically relevant quantum computers (CRQC)</a:t>
            </a:r>
            <a:endParaRPr 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2FD5E-4D76-547C-62A9-3117BEEA8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85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ADB56-CB90-2B30-8EF9-95E100EC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B12D2-E968-8852-A970-21414A719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00989-6F6B-0AFD-9DE2-E4AE3754D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Quantum computing (QC) is an emerging technology that can be used to solve certain complex problems faster than traditional computers (TC)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This is because QC process information differently to TC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TC work with bits (switches that are either 0 or 1)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TC process problems one step at a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QC uses qubits (which can represent multiple possibilities at once.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Coin Analogy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In classical computing, the coin has landed and is either heads or tails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In QC, the coin is still spinning and represents both outcomes, until you observe it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This makes QC faster at solving specific extremely complex calculations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These computers aren’t designed to replace all classical computers, but they are very efficient at certain tasks.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9A9E2-9268-F60B-59A0-9DE65B93C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42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2037A-C49E-662E-0471-D2AE8144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59EBA-8D0C-C93C-CE9D-CE28356B9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55915-13A8-72D2-47A4-29017AFE9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other applications for QC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medicine, they could reduce drug development timelines from years to months by modelling molecules far more efficiently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finance, they could evaluate complex risk calculations at speeds that vastly outperform current systems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/>
              <a:t>Both industries are actively investing in quantum research for these reasons.</a:t>
            </a:r>
            <a:endParaRPr 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83EEB-CB3E-27AB-1183-E51DAC216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4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A822A-4490-8226-BFB3-6E7C42B1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3BEB0-ABDA-55FB-3CE8-5F40731A1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3DDD7-61AD-EE14-1C8F-61C648A32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Looking ahead, hardware is advancing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Microsoft's Majorana 1 chip suggests quantum computing is moving closer to practical, large-scale 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by the image, the chip (produced in 2025) aims to be more </a:t>
            </a:r>
            <a:r>
              <a:rPr lang="en-A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stable, scalable, and capable of solving real-world problems.</a:t>
            </a: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Key Action item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Adopt</a:t>
            </a:r>
            <a:r>
              <a:rPr lang="en-A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quantum-safe encryption methods for any sensitive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Threat actors are harvesting and storing encrypted data now, with the intention of decrypting it using quantum computers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24367-1541-297C-7B51-4CF6E3987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44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B692F-BE94-C2A8-3F32-7686B62C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A16FD-19B1-6BF3-7777-356F91790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1B76C-4F4C-AC02-2779-A08C421D9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Looking ahead, hardware is advancing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Microsoft's Majorana 1 chip suggests quantum computing is moving closer to practical, large-scale 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by the image, the chip (produced in 2025) aims to be more </a:t>
            </a:r>
            <a:r>
              <a:rPr lang="en-A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stable, scalable, and capable of solving real-world problems.</a:t>
            </a: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Key Action item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Adopt</a:t>
            </a:r>
            <a:r>
              <a:rPr lang="en-A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quantum-safe encryption methods for any sensitive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Threat actors are harvesting and storing encrypted data now, with the intention of decrypting it using quantum computers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23433-111D-28C3-446B-35101FC74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46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26A47-A32C-AC72-87C2-8783736BB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14498-8C27-8EC2-5A97-AE30E1652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B201D-B3EA-39AA-2EB4-44165C8D1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Looking ahead, hardware is advancing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Microsoft's Majorana 1 chip suggests quantum computing is moving closer to practical, large-scale 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by the image, the chip (produced in 2025) aims to be more </a:t>
            </a:r>
            <a:r>
              <a:rPr lang="en-A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stable, scalable, and capable of solving real-world problems.</a:t>
            </a: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Key Action item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Adopt</a:t>
            </a:r>
            <a:r>
              <a:rPr lang="en-A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quantum-safe encryption methods for any sensitive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Threat actors are harvesting and storing encrypted data now, with the intention of decrypting it using quantum computers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A1593-B5DA-FBE3-C387-393EDC17A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5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8F3D-1254-865F-6DAD-AB0ABCE0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BE418-5E23-4C2B-B012-698AD52B7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569FA-DA22-A9A5-133C-B47CFC447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Looking ahead, hardware is advancing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Microsoft's Majorana 1 chip suggests quantum computing is moving closer to practical, large-scale 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by the image, the chip (produced in 2025) aims to be more </a:t>
            </a:r>
            <a:r>
              <a:rPr lang="en-A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stable, scalable, and capable of solving real-world problems.</a:t>
            </a: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Key Action item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Adopt</a:t>
            </a:r>
            <a:r>
              <a:rPr lang="en-A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quantum-safe encryption methods for any sensitive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Threat actors are harvesting and storing encrypted data now, with the intention of decrypting it using quantum computers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36805-616A-0CBC-0E5A-F6E024EE4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30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6CA7-2007-7294-9244-6F599F9B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2FF86-626D-B4F0-DF23-5C2CC5BFD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6A96C-EDA4-7502-0F32-25CA11EEB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Looking ahead, hardware is advancing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Microsoft's Majorana 1 chip suggests quantum computing is moving closer to practical, large-scale 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by the image, the chip (produced in 2025) aims to be more </a:t>
            </a:r>
            <a:r>
              <a:rPr lang="en-A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stable, scalable, and capable of solving real-world problems.</a:t>
            </a: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Key Action item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Adopt</a:t>
            </a:r>
            <a:r>
              <a:rPr lang="en-A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quantum-safe encryption methods for any sensitive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Threat actors are harvesting and storing encrypted data now, with the intention of decrypting it using quantum computers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C6DD6-D409-28EB-D9D2-C4E172F25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32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8B373-1CDF-2719-9B54-09B81EA5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03F95-D8C0-76AD-C4DC-6AF324CE7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A4193-88EA-4BAD-025D-DB71E7F15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EC1C3-9204-8A5E-E31E-6B8BAAD2D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184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7" r:id="rId13"/>
    <p:sldLayoutId id="214748369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quantumai.google/discover/whatisqc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CF62-0575-9932-BB08-8DA71030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FB06D54-CED2-2DF1-AF31-18D731B9E3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Harper Fitness Digital Transformation </a:t>
            </a:r>
            <a:endParaRPr lang="en-US" sz="4000" dirty="0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B73D6600-BEE6-AC86-13A4-56FFA4F90C0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D2DE00-9E3D-3B6F-EF6A-339AC37CB2B1}"/>
              </a:ext>
            </a:extLst>
          </p:cNvPr>
          <p:cNvSpPr txBox="1"/>
          <p:nvPr/>
        </p:nvSpPr>
        <p:spPr>
          <a:xfrm>
            <a:off x="923453" y="4209382"/>
            <a:ext cx="2236510" cy="17543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dirty="0"/>
              <a:t>Group 7 Presentation by:</a:t>
            </a:r>
          </a:p>
          <a:p>
            <a:pPr marL="285750" indent="-285750">
              <a:buFont typeface="Arial"/>
              <a:buChar char="•"/>
            </a:pPr>
            <a:r>
              <a:rPr lang="en-AU" dirty="0"/>
              <a:t>Deep</a:t>
            </a:r>
          </a:p>
          <a:p>
            <a:pPr marL="285750" indent="-285750">
              <a:buFont typeface="Arial"/>
              <a:buChar char="•"/>
            </a:pPr>
            <a:r>
              <a:rPr lang="en-AU" dirty="0"/>
              <a:t>Kiran</a:t>
            </a:r>
          </a:p>
          <a:p>
            <a:pPr marL="285750" indent="-285750">
              <a:buFont typeface="Arial"/>
              <a:buChar char="•"/>
            </a:pPr>
            <a:r>
              <a:rPr lang="en-AU" dirty="0"/>
              <a:t>Peter</a:t>
            </a:r>
          </a:p>
          <a:p>
            <a:pPr marL="285750" indent="-285750">
              <a:buFont typeface="Arial"/>
              <a:buChar char="•"/>
            </a:pPr>
            <a:r>
              <a:rPr lang="en-AU" dirty="0"/>
              <a:t>Raziq</a:t>
            </a:r>
          </a:p>
          <a:p>
            <a:pPr marL="285750" indent="-285750">
              <a:buFont typeface="Arial"/>
              <a:buChar char="•"/>
            </a:pPr>
            <a:r>
              <a:rPr lang="en-AU" dirty="0"/>
              <a:t>William</a:t>
            </a:r>
          </a:p>
        </p:txBody>
      </p:sp>
    </p:spTree>
    <p:extLst>
      <p:ext uri="{BB962C8B-B14F-4D97-AF65-F5344CB8AC3E}">
        <p14:creationId xmlns:p14="http://schemas.microsoft.com/office/powerpoint/2010/main" val="352752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46BB-8F41-6BBA-5C49-5C268A77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42134"/>
                </a:solidFill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88783-CF06-63E9-095D-159FA7D6B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Harper Fitness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400+ gyms and wellness centres across Australia, NZ, UK and Canada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Strong brand built on affordability, community and wellness programs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Younger members now expect app-based, mobile-first service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A4AAF-C818-07CA-87C3-7BA4E89158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D6951-1DBE-FEB7-6915-1591339D3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Our Consulting Firm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Digital transformation partner for service-based organisations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Practical delivery focus: member experience, integration and adoption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Proposal covers discovery through launch and stabilisation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077B75-2A6F-0691-B9D4-7A8B2AA61F6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0030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BC1DE-8D1E-1D25-AA01-10B93782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E05D-7F79-0AA9-E10A-F90EC8ED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>
                <a:solidFill>
                  <a:srgbClr val="042134"/>
                </a:solidFill>
              </a:rPr>
              <a:t>The Core Problem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0DE9D2-B5AF-5012-9C25-5E9F16D04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Current Challenges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Outdated website with limited online joining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No comprehensive mobile app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Class booking mostly by phone or reception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IT, marketing and operations data remain disconnected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194AC7-2E04-3BF1-5C4E-1758DAF0AC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9D53C4-E71A-2644-D20C-283AD69BC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Business Impact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Younger members face friction in basic tasks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Front-desk staff carry avoidable manual workload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Marketing cannot clearly link campaigns to sign-ups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Competitors offer stronger digital experiences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FFB0E9-07B4-6F3F-FBBD-0D5773FEDC8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070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5245D-8A69-79BD-96CA-FD027D3E9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4CBE-A0B0-630E-CEE8-6652CC6F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>
                <a:solidFill>
                  <a:srgbClr val="042134"/>
                </a:solidFill>
              </a:rPr>
              <a:t>Strategic Opportunity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0D2B25-2EE7-EECA-F152-9A5874115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500" b="1">
                <a:solidFill>
                  <a:srgbClr val="042134"/>
                </a:solidFill>
                <a:latin typeface="Aptos"/>
              </a:defRPr>
            </a:pPr>
            <a:r>
              <a:t>Turn the Technology Gap into a Competitive Advantage</a:t>
            </a:r>
          </a:p>
          <a:p>
            <a:pPr>
              <a:spcAft>
                <a:spcPts val="500"/>
              </a:spcAft>
              <a:defRPr sz="2200">
                <a:solidFill>
                  <a:srgbClr val="4B5A63"/>
                </a:solidFill>
                <a:latin typeface="Aptos"/>
              </a:defRPr>
            </a:pPr>
            <a:r>
              <a:t>Create one connected digital member experience across web, app and support</a:t>
            </a:r>
          </a:p>
          <a:p>
            <a:pPr>
              <a:spcAft>
                <a:spcPts val="500"/>
              </a:spcAft>
              <a:defRPr sz="2200">
                <a:solidFill>
                  <a:srgbClr val="4B5A63"/>
                </a:solidFill>
                <a:latin typeface="Aptos"/>
              </a:defRPr>
            </a:pPr>
            <a:r>
              <a:t>Shift routine bookings, check-ins and membership tasks to self-service</a:t>
            </a:r>
          </a:p>
          <a:p>
            <a:pPr>
              <a:spcAft>
                <a:spcPts val="500"/>
              </a:spcAft>
              <a:defRPr sz="2200">
                <a:solidFill>
                  <a:srgbClr val="4B5A63"/>
                </a:solidFill>
                <a:latin typeface="Aptos"/>
              </a:defRPr>
            </a:pPr>
            <a:r>
              <a:t>Use digital data to understand engagement and membership conversion</a:t>
            </a:r>
          </a:p>
          <a:p>
            <a:pPr>
              <a:spcAft>
                <a:spcPts val="500"/>
              </a:spcAft>
              <a:defRPr sz="2200">
                <a:solidFill>
                  <a:srgbClr val="4B5A63"/>
                </a:solidFill>
                <a:latin typeface="Aptos"/>
              </a:defRPr>
            </a:pPr>
            <a:r>
              <a:t>Support retention and growth among 18-30-year-old members</a:t>
            </a:r>
          </a:p>
        </p:txBody>
      </p:sp>
    </p:spTree>
    <p:extLst>
      <p:ext uri="{BB962C8B-B14F-4D97-AF65-F5344CB8AC3E}">
        <p14:creationId xmlns:p14="http://schemas.microsoft.com/office/powerpoint/2010/main" val="280232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03914-2D37-C6DA-3B50-A0AD07DA6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1C739F-5BD1-DE80-89FC-327EEEB27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8A8808D-797A-5A7E-C741-46E33BDDF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7D99C4-679A-0BB3-9F0E-C4BB89E44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BDBA4DC-2A6A-43B3-AD54-1E4EFC5B5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BC924F8-D49A-1570-4EFB-22F6AD6CD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1287ED-0C6D-D862-D630-E3D82AFA0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79D06D8-C4F1-11FD-E681-7B426457D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A34289B-1101-8E31-2E29-75B5F1489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5FC789D-D357-AA9A-2AFC-B59C99A5B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9DC1BD3-B1F1-5B12-48B6-E3B5525EB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27E7B47-C00F-09FC-CEB6-BF508D0D6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B9F1E99-74DE-01D2-1959-F699E378D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638174"/>
            <a:ext cx="10529048" cy="14763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>
                <a:solidFill>
                  <a:srgbClr val="042134"/>
                </a:solidFill>
              </a:rPr>
              <a:t>Website &amp; Mobile App Solution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FDE25A-4802-41A5-C45A-C0D59A73B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DE9CF9B-3E23-3B75-5A00-9F3C86B74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BAC59F-CC32-3D98-4DE7-79BC5E413F9A}"/>
              </a:ext>
            </a:extLst>
          </p:cNvPr>
          <p:cNvSpPr txBox="1"/>
          <p:nvPr/>
        </p:nvSpPr>
        <p:spPr>
          <a:xfrm>
            <a:off x="7600256" y="6639474"/>
            <a:ext cx="25693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AU" sz="8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D80865-2829-5469-7F4C-7B1244EED9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21C295-BB09-80BA-2285-98EB04514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Core Digital Channels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Mobile-responsive website with clear journeys for joining, trials and classes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Secure member portal for memberships, payment details and class history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Mobile app for booking, cancellations, QR check-in and workout tracking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Approved wearable integrations to support activity logging and feedback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60" y="1234440"/>
            <a:ext cx="2148840" cy="4343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99248" y="1508760"/>
            <a:ext cx="16459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042134"/>
                </a:solidFill>
                <a:latin typeface="Aptos"/>
              </a:defRPr>
            </a:pPr>
            <a:r>
              <a:t>Harper App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6679" y="2057400"/>
            <a:ext cx="1600200" cy="411480"/>
          </a:xfrm>
          <a:prstGeom prst="roundRect">
            <a:avLst/>
          </a:prstGeom>
          <a:solidFill>
            <a:srgbClr val="F2EAEA"/>
          </a:solidFill>
          <a:ln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0688" y="2130552"/>
            <a:ext cx="14630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50" b="0">
                <a:solidFill>
                  <a:srgbClr val="042134"/>
                </a:solidFill>
                <a:latin typeface="Aptos"/>
              </a:defRPr>
            </a:pPr>
            <a:r>
              <a:t>Book class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26679" y="2715768"/>
            <a:ext cx="1600200" cy="411480"/>
          </a:xfrm>
          <a:prstGeom prst="roundRect">
            <a:avLst/>
          </a:prstGeom>
          <a:solidFill>
            <a:srgbClr val="F2EAEA"/>
          </a:solidFill>
          <a:ln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90688" y="2788920"/>
            <a:ext cx="14630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50" b="0">
                <a:solidFill>
                  <a:srgbClr val="042134"/>
                </a:solidFill>
                <a:latin typeface="Aptos"/>
              </a:defRPr>
            </a:pPr>
            <a:r>
              <a:t>QR check-in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26679" y="3374136"/>
            <a:ext cx="1600200" cy="411480"/>
          </a:xfrm>
          <a:prstGeom prst="roundRect">
            <a:avLst/>
          </a:prstGeom>
          <a:solidFill>
            <a:srgbClr val="F2EAEA"/>
          </a:solidFill>
          <a:ln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90688" y="3447288"/>
            <a:ext cx="14630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50" b="0">
                <a:solidFill>
                  <a:srgbClr val="042134"/>
                </a:solidFill>
                <a:latin typeface="Aptos"/>
              </a:defRPr>
            </a:pPr>
            <a:r>
              <a:t>Training plan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79" y="4032504"/>
            <a:ext cx="1600200" cy="411480"/>
          </a:xfrm>
          <a:prstGeom prst="roundRect">
            <a:avLst/>
          </a:prstGeom>
          <a:solidFill>
            <a:srgbClr val="F2EAEA"/>
          </a:solidFill>
          <a:ln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90688" y="4105656"/>
            <a:ext cx="14630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50" b="0">
                <a:solidFill>
                  <a:srgbClr val="042134"/>
                </a:solidFill>
                <a:latin typeface="Aptos"/>
              </a:defRPr>
            </a:pPr>
            <a:r>
              <a:t>Track workout</a:t>
            </a:r>
          </a:p>
        </p:txBody>
      </p:sp>
    </p:spTree>
    <p:extLst>
      <p:ext uri="{BB962C8B-B14F-4D97-AF65-F5344CB8AC3E}">
        <p14:creationId xmlns:p14="http://schemas.microsoft.com/office/powerpoint/2010/main" val="405972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D6ED6-93B5-4014-AD9E-302D68EC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74FEE1-7581-A564-A244-7EEF1DE93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7D366C-2977-E859-2864-BCB0E8C46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D52328E-FDA7-BC95-FED4-0B6EFF18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45CCD3B-FA41-576C-5C00-5F058B54D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47E3F1-5EA9-28C8-3721-B2520790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DC368FA-185A-5C96-2D67-58B641742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1FF59F6-440D-E2D5-B9D7-E7EB3E016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B67C6B3-8A36-B7D2-38A7-1F15CCBCB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F83B235-37E4-245D-3B9D-D7DD10156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CC2DC2A-2368-4617-7B7C-7B88CDAE3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0E6F132-37A9-F2C9-2EF6-C2657C59B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FBAEBEB-BD8B-CD84-96A2-2ABB07A6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638174"/>
            <a:ext cx="10529048" cy="14763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>
                <a:solidFill>
                  <a:srgbClr val="042134"/>
                </a:solidFill>
              </a:rPr>
              <a:t>Chatbot &amp; Wellness Services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8B46F70-B507-5B21-072D-9CD2E95EC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C4EAE64-2060-DDC6-1010-DCC35033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72819F-F1FC-ACD5-4B15-B39FF10CD0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Support Members Beyond the Front Desk</a:t>
            </a:r>
          </a:p>
          <a:p>
            <a:pPr>
              <a:spcAft>
                <a:spcPts val="500"/>
              </a:spcAft>
              <a:defRPr sz="2000">
                <a:solidFill>
                  <a:srgbClr val="4B5A63"/>
                </a:solidFill>
                <a:latin typeface="Aptos"/>
              </a:defRPr>
            </a:pPr>
            <a:r>
              <a:t>24/7 chatbot for common questions, class information and membership support</a:t>
            </a:r>
          </a:p>
          <a:p>
            <a:pPr>
              <a:spcAft>
                <a:spcPts val="500"/>
              </a:spcAft>
              <a:defRPr sz="2000">
                <a:solidFill>
                  <a:srgbClr val="4B5A63"/>
                </a:solidFill>
                <a:latin typeface="Aptos"/>
              </a:defRPr>
            </a:pPr>
            <a:r>
              <a:t>Escalation path for complex issues that still need staff assistance</a:t>
            </a:r>
          </a:p>
          <a:p>
            <a:pPr>
              <a:spcAft>
                <a:spcPts val="500"/>
              </a:spcAft>
              <a:defRPr sz="2000">
                <a:solidFill>
                  <a:srgbClr val="4B5A63"/>
                </a:solidFill>
                <a:latin typeface="Aptos"/>
              </a:defRPr>
            </a:pPr>
            <a:r>
              <a:t>Digital coaching, class streaming and nutrition tracking as wellness extensions</a:t>
            </a:r>
          </a:p>
          <a:p>
            <a:pPr>
              <a:spcAft>
                <a:spcPts val="500"/>
              </a:spcAft>
              <a:defRPr sz="2000">
                <a:solidFill>
                  <a:srgbClr val="4B5A63"/>
                </a:solidFill>
                <a:latin typeface="Aptos"/>
              </a:defRPr>
            </a:pPr>
            <a:r>
              <a:t>Better support for younger members who expect fast, online answers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95160" y="2057400"/>
            <a:ext cx="2926080" cy="1051560"/>
          </a:xfrm>
          <a:prstGeom prst="roundRect">
            <a:avLst/>
          </a:prstGeom>
          <a:solidFill>
            <a:srgbClr val="E8F1EE"/>
          </a:solidFill>
          <a:ln w="12700">
            <a:solidFill>
              <a:srgbClr val="2D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Chatbot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Instant answers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Staff escalation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95160" y="3429000"/>
            <a:ext cx="2926080" cy="1051560"/>
          </a:xfrm>
          <a:prstGeom prst="roundRect">
            <a:avLst/>
          </a:prstGeom>
          <a:solidFill>
            <a:srgbClr val="F2EAEA"/>
          </a:solidFill>
          <a:ln w="12700"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Wellness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Digital coaching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Streaming + nutrition</a:t>
            </a:r>
          </a:p>
        </p:txBody>
      </p:sp>
    </p:spTree>
    <p:extLst>
      <p:ext uri="{BB962C8B-B14F-4D97-AF65-F5344CB8AC3E}">
        <p14:creationId xmlns:p14="http://schemas.microsoft.com/office/powerpoint/2010/main" val="141894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6E78B-DDFA-5325-A5E4-F93CC49B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6051-1D52-A5EA-E0B4-2E9AA00CD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>
                <a:solidFill>
                  <a:srgbClr val="042134"/>
                </a:solidFill>
              </a:rPr>
              <a:t>Project Methodology &amp;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F2F5F-C178-879E-88B2-F3781FB26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Hybrid Delivery Approach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Plan upfront: scope, governance, risks and requirements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Build iteratively: website, app, chatbot and integrations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Test continuously with staff and member feedback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Stage go-live to reduce operational disruption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48F9E1-5CB7-80F8-59BD-B6535DBC8B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7CF54-4036-16C6-3E98-FA80FA1CA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12-15 Month Timeline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0-2 months: discovery, requirements and architecture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3-6 months: website refresh and early member portal release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7-12 months: mobile app, chatbot and core integrations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13-15 months: training, rollout and post-launch stabilisation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E590C-E1E0-1BD9-91CD-38961198C1C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426820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FB3F-D494-F16F-2855-BDEB1A64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42134"/>
                </a:solidFill>
              </a:rPr>
              <a:t>Governance &amp; Risk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7EFBB-B467-E1F3-39E6-8E461A017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Governance Structure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Monthly steering committee for scope, budget and major decisions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Weekly project forum for progress, dependencies and issue resolution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Delivery stand-ups to manage backlog, blockers and testing readiness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Formal change control for material scope changes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8517A-B51C-647F-DA87-56381EBA68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C5390-EA04-297B-AB7E-0F60B055A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2400" b="1">
                <a:solidFill>
                  <a:srgbClr val="042134"/>
                </a:solidFill>
                <a:latin typeface="Aptos"/>
              </a:defRPr>
            </a:pPr>
            <a:r>
              <a:t>Key Risks &amp; Mitigation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Integration risk: early technical discovery and staged testing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Adoption risk: staff training and clear communications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Privacy risk: secure design and data access controls</a:t>
            </a:r>
          </a:p>
          <a:p>
            <a:pPr>
              <a:spcAft>
                <a:spcPts val="500"/>
              </a:spcAft>
              <a:defRPr sz="1900">
                <a:solidFill>
                  <a:srgbClr val="4B5A63"/>
                </a:solidFill>
                <a:latin typeface="Aptos"/>
              </a:defRPr>
            </a:pPr>
            <a:r>
              <a:t>Timeline risk: phased releases and milestone governance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DCEF7-4C1F-D8F7-7A50-96F81193C8C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533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A75D2-A454-F61E-8636-6F598CE3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F0AA7E-484E-83BE-2081-9D7BD6616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3558F7-74A5-D2DF-5A47-FFEDC2AFD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D05FBE2-940D-0B63-15F6-69548F7FB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34A108-1C38-C394-8169-0DA3FF617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107900-46EB-46EC-22FF-A487AA32F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876CD2-24D3-B0D6-2343-E109D1C04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7F2D7FC-1807-5179-D628-C81D9AC4D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B42EF91-A19B-C6CF-6901-A0A6AED63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D4EC311-B3D3-3514-85F5-71E3F83AF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0818FC0-379A-31AB-2377-D7844F5CF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F8297A3-543D-6D6E-F734-38D217DF1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BC2582C-AFB3-7E1A-CC02-250478830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638174"/>
            <a:ext cx="10529048" cy="14763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>
                <a:solidFill>
                  <a:srgbClr val="042134"/>
                </a:solidFill>
              </a:rPr>
              <a:t>Pricing &amp; Expected Outcomes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576FC87-27E0-6147-25D0-260BCA980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379A043-371E-290F-0D73-0745F3D79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93A7AE-33C7-C83B-98A7-8CC879B473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124712" y="1627632"/>
            <a:ext cx="9784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042134"/>
                </a:solidFill>
                <a:latin typeface="Aptos"/>
              </a:defRPr>
            </a:pPr>
            <a:r>
              <a:t>Project Pricing, Alternative Options and Success Measures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" y="2240280"/>
            <a:ext cx="3246120" cy="3063240"/>
          </a:xfrm>
          <a:prstGeom prst="roundRect">
            <a:avLst/>
          </a:prstGeom>
          <a:solidFill>
            <a:srgbClr val="E8F1EE"/>
          </a:solidFill>
          <a:ln w="12700">
            <a:solidFill>
              <a:srgbClr val="2D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Recommended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Full Technology Refresh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AUD $5.8M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Website • App • Chatbot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Integrations • Training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2240280"/>
            <a:ext cx="2880360" cy="3063240"/>
          </a:xfrm>
          <a:prstGeom prst="roundRect">
            <a:avLst/>
          </a:prstGeom>
          <a:solidFill>
            <a:srgbClr val="F2EAEA"/>
          </a:solidFill>
          <a:ln w="12700"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Options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Essential: AUD $4.9M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Reduced wearable/wellness scope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Enhanced: AUD $6.4M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Virtual coaching + analytics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35240" y="2240280"/>
            <a:ext cx="2880360" cy="3063240"/>
          </a:xfrm>
          <a:prstGeom prst="roundRect">
            <a:avLst/>
          </a:prstGeom>
          <a:solidFill>
            <a:srgbClr val="F2EAEA"/>
          </a:solidFill>
          <a:ln w="12700"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Success Measures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18-30 membership uptake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App adoption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Online bookings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Customer satisfaction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Reduced staff pressure</a:t>
            </a:r>
          </a:p>
        </p:txBody>
      </p:sp>
    </p:spTree>
    <p:extLst>
      <p:ext uri="{BB962C8B-B14F-4D97-AF65-F5344CB8AC3E}">
        <p14:creationId xmlns:p14="http://schemas.microsoft.com/office/powerpoint/2010/main" val="2785989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CF5B2-C481-E1B3-67C8-BBD03658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F9A6273-06A3-08AA-DB12-4853EC9AC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1B4BFDB-422B-2E18-4501-CAB0DD9D7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65D3A0-0237-31BC-4759-23EF36A43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54812A7-C2B4-8D77-BFC3-7C3000A79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7B0D0B7-F775-DEA7-A144-B002C57C6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0F606CD-6CCA-E86A-0C80-32D77FCA4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DCC54A6-C9D8-3064-20EE-F996FFABC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B7A5C77-B16E-2EA0-AD6B-C84F80D4B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64F715B-CB63-88C6-6F2E-AEB684EC7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29DA653-160A-05FB-E29F-AAC351898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E6382FE-2DF5-FC53-FE12-6F886D96A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F0BF5A3-9684-E509-9280-0537FE76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638174"/>
            <a:ext cx="10529048" cy="14763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>
                <a:solidFill>
                  <a:srgbClr val="042134"/>
                </a:solidFill>
              </a:rPr>
              <a:t>Similar Experience &amp; Capability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920FD0B-2862-BE0C-F1B4-272B03EE3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1A7EF2-B2FB-4E11-8CF3-1021C9CA9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3CEA2A-C9C7-7CAF-5029-CB46FAEDEB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124712" y="1627632"/>
            <a:ext cx="9784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042134"/>
                </a:solidFill>
                <a:latin typeface="Aptos"/>
              </a:defRPr>
            </a:pPr>
            <a:r>
              <a:t>Relevant Project Experience and Results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" y="2148840"/>
            <a:ext cx="3154680" cy="3246120"/>
          </a:xfrm>
          <a:prstGeom prst="roundRect">
            <a:avLst/>
          </a:prstGeom>
          <a:solidFill>
            <a:srgbClr val="F2EAEA"/>
          </a:solidFill>
          <a:ln w="12700"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Recreation Provider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Member portal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Online booking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Reduced front-desk pressure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24528" y="2148840"/>
            <a:ext cx="3154680" cy="3246120"/>
          </a:xfrm>
          <a:prstGeom prst="roundRect">
            <a:avLst/>
          </a:prstGeom>
          <a:solidFill>
            <a:srgbClr val="E8F1EE"/>
          </a:solidFill>
          <a:ln w="12700">
            <a:solidFill>
              <a:srgbClr val="2D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Service Organisation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Mobile self-service app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Staged rollout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Staff adoption support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80375" y="2148840"/>
            <a:ext cx="3154680" cy="3246120"/>
          </a:xfrm>
          <a:prstGeom prst="roundRect">
            <a:avLst/>
          </a:prstGeom>
          <a:solidFill>
            <a:srgbClr val="F2EAEA"/>
          </a:solidFill>
          <a:ln w="12700"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Consumer Business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Chatbot integration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Customer database link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Governed testing before launch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5532120"/>
            <a:ext cx="9692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0">
                <a:solidFill>
                  <a:srgbClr val="4B5A63"/>
                </a:solidFill>
                <a:latin typeface="Aptos"/>
              </a:defRPr>
            </a:pPr>
            <a:r>
              <a:t>Why it matters: we have delivered the same pattern Harper needs - digital channels connected to existing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2848037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2D2B4-1BE9-C163-875B-0F8137D2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08589FA-A278-7270-24ED-C9F85E34A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10C2696-8C6F-EDCB-4B88-81CC261CA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E8C153A-6997-0581-C59A-0F71DD70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D02BFE-E900-8C65-7BD0-02150F946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6433F5-8FF7-2E18-44B3-122A6B6F8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5ECB098-3D75-BC16-F141-1E0BD51BF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00E1B6E-2B83-02EB-747C-16EFD997D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DC5015C-29AC-DDF6-21F3-1512CD311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362006E-0052-90B2-AFBC-99C6BAC88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65C97EC-1FA2-2A02-5149-D6870ECAE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28817E-2BB1-31E5-DE3C-4EC9671C0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081A8AB-E840-21E8-8336-6FC33869E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638174"/>
            <a:ext cx="10529048" cy="14763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>
                <a:solidFill>
                  <a:srgbClr val="042134"/>
                </a:solidFill>
              </a:rPr>
              <a:t>Conclusion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31CF4F1-0381-FA0B-9516-D545FFBCB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24B9190-E9F9-D8FD-1A1D-68A478104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34B41A-42DD-E846-9B76-C8257D6BDB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124712" y="1627632"/>
            <a:ext cx="9784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042134"/>
                </a:solidFill>
                <a:latin typeface="Aptos"/>
              </a:defRPr>
            </a:pPr>
            <a:r>
              <a:t>Harper Fitness can turn a digital gap into a member experience advantage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120" y="2240280"/>
            <a:ext cx="2926080" cy="2743200"/>
          </a:xfrm>
          <a:prstGeom prst="roundRect">
            <a:avLst/>
          </a:prstGeom>
          <a:solidFill>
            <a:srgbClr val="F2EAEA"/>
          </a:solidFill>
          <a:ln w="12700"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What We Solve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Manual bookings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Limited self-service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Disconnected digital data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60520" y="2240280"/>
            <a:ext cx="2926080" cy="2743200"/>
          </a:xfrm>
          <a:prstGeom prst="roundRect">
            <a:avLst/>
          </a:prstGeom>
          <a:solidFill>
            <a:srgbClr val="E8F1EE"/>
          </a:solidFill>
          <a:ln w="12700">
            <a:solidFill>
              <a:srgbClr val="2D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What We Deliver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Website refresh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Mobile app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Chatbot + integrations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60920" y="2240280"/>
            <a:ext cx="2926080" cy="2743200"/>
          </a:xfrm>
          <a:prstGeom prst="roundRect">
            <a:avLst/>
          </a:prstGeom>
          <a:solidFill>
            <a:srgbClr val="F2EAEA"/>
          </a:solidFill>
          <a:ln w="12700">
            <a:solidFill>
              <a:srgbClr val="D8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42134"/>
                </a:solidFill>
                <a:latin typeface="Aptos"/>
              </a:defRPr>
            </a:pPr>
            <a:r>
              <a:t>How Success Is Measured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Membership growth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App and booking adoption</a:t>
            </a:r>
          </a:p>
          <a:p>
            <a:pPr>
              <a:spcAft>
                <a:spcPts val="400"/>
              </a:spcAft>
              <a:defRPr sz="1500">
                <a:solidFill>
                  <a:srgbClr val="4B5A63"/>
                </a:solidFill>
                <a:latin typeface="Aptos"/>
              </a:defRPr>
            </a:pPr>
            <a:r>
              <a:t>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269486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69E83-76F7-ABB4-68CF-6E98D52A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CA859384-8370-3D55-1E2C-D06C101C037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5A257E-6D39-B4BF-7F13-EC4C2D09429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8405-4FC4-C66D-FB83-B013F47B5719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 wrap="square" lIns="73152" rIns="73152" tIns="36576" bIns="36576">
            <a:norm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42134"/>
                </a:solidFill>
                <a:latin typeface="Aptos"/>
              </a:defRPr>
            </a:pPr>
            <a:r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75184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180A77-4928-484F-9529-F716C85D6A6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C20BE78-9FDF-401B-B412-3AA10EC5BEA3}">
  <ds:schemaRefs>
    <ds:schemaRef ds:uri="http://schemas.openxmlformats.org/package/2006/metadata/core-properties"/>
    <ds:schemaRef ds:uri="http://schemas.microsoft.com/office/2006/documentManagement/types"/>
    <ds:schemaRef ds:uri="71af3243-3dd4-4a8d-8c0d-dd76da1f02a5"/>
    <ds:schemaRef ds:uri="http://purl.org/dc/elements/1.1/"/>
    <ds:schemaRef ds:uri="230e9df3-be65-4c73-a93b-d1236ebd677e"/>
    <ds:schemaRef ds:uri="http://purl.org/dc/terms/"/>
    <ds:schemaRef ds:uri="http://www.w3.org/XML/1998/namespace"/>
    <ds:schemaRef ds:uri="http://schemas.microsoft.com/office/infopath/2007/PartnerControls"/>
    <ds:schemaRef ds:uri="http://purl.org/dc/dcmitype/"/>
    <ds:schemaRef ds:uri="16c05727-aa75-4e4a-9b5f-8a80a1165891"/>
    <ds:schemaRef ds:uri="http://schemas.microsoft.com/sharepoint/v3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 lines design</Template>
  <TotalTime>27</TotalTime>
  <Words>848</Words>
  <Application>Microsoft Macintosh PowerPoint</Application>
  <PresentationFormat>Widescreen</PresentationFormat>
  <Paragraphs>98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Univers Condensed Light</vt:lpstr>
      <vt:lpstr>Walbaum Display Light</vt:lpstr>
      <vt:lpstr>AngleLinesVTI</vt:lpstr>
      <vt:lpstr>Harper Fitness Digital Transformation </vt:lpstr>
      <vt:lpstr>introduction</vt:lpstr>
      <vt:lpstr>The core problem</vt:lpstr>
      <vt:lpstr>Strategic Opportunity</vt:lpstr>
      <vt:lpstr>Website &amp; Mobile App solution</vt:lpstr>
      <vt:lpstr>Chatbot &amp; wellness services</vt:lpstr>
      <vt:lpstr>Project Methodology &amp; Timeline</vt:lpstr>
      <vt:lpstr>Governance &amp; Risk Management</vt:lpstr>
      <vt:lpstr>Pricing &amp; Expected Outcomes</vt:lpstr>
      <vt:lpstr>Similar Experience &amp; Capability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Rajackal Senthil Vel</dc:creator>
  <cp:lastModifiedBy>Gurdeep Bajwa</cp:lastModifiedBy>
  <cp:revision>17</cp:revision>
  <dcterms:created xsi:type="dcterms:W3CDTF">2026-03-28T02:48:04Z</dcterms:created>
  <dcterms:modified xsi:type="dcterms:W3CDTF">2026-05-12T00:31:27Z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